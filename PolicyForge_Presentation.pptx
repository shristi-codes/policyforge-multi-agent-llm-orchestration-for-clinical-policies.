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5200" b="1">
                <a:solidFill>
                  <a:srgbClr val="FFFFFF"/>
                </a:solidFill>
              </a:rPr>
              <a:t>PolicyForge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0">
                <a:solidFill>
                  <a:srgbClr val="C5D8F0"/>
                </a:solidFill>
              </a:rPr>
              <a:t>Automated Medicare Policy Extraction Using</a:t>
            </a:r>
            <a:br/>
            <a:r>
              <a:t>Multi-Agent LLMs &amp;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3749039"/>
            <a:ext cx="4507992" cy="36576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0">
                <a:solidFill>
                  <a:srgbClr val="90B8D8"/>
                </a:solidFill>
              </a:rPr>
              <a:t>Cotiviti Intern Assessment  ·  Topic 3: Content Management in Health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</a:rPr>
              <a:t>Abhishek Kumar  · 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577840"/>
            <a:ext cx="12188952" cy="1005840"/>
          </a:xfrm>
          <a:prstGeom prst="rect">
            <a:avLst/>
          </a:prstGeom>
          <a:solidFill>
            <a:srgbClr val="17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200" b="1">
                <a:solidFill>
                  <a:srgbClr val="007B83"/>
                </a:solidFill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80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Real CMS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200" b="1">
                <a:solidFill>
                  <a:srgbClr val="007B83"/>
                </a:solidFill>
              </a:rPr>
              <a:t>98.2%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6080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Mean F1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200" b="1">
                <a:solidFill>
                  <a:srgbClr val="007B83"/>
                </a:solidFill>
              </a:rPr>
              <a:t>96.4%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080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Weighted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200" b="1">
                <a:solidFill>
                  <a:srgbClr val="007B83"/>
                </a:solidFill>
              </a:rPr>
              <a:t>15×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6080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Cost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200" b="1">
                <a:solidFill>
                  <a:srgbClr val="007B83"/>
                </a:solidFill>
              </a:rPr>
              <a:t>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080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Provider Flag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C5D8F0"/>
                </a:solidFill>
              </a:rPr>
              <a:t>Manual policy extraction cannot keep pace with Medicare policy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>
                <a:solidFill>
                  <a:srgbClr val="C5D8F0"/>
                </a:solidFill>
              </a:rPr>
              <a:t>PolicyForge  |  Cotiviti Intern Assessment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1F497D"/>
                </a:solidFill>
              </a:rPr>
              <a:t>Current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45 min per policy — a single analyst processes ~11/day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$56.25 per extraction (analyst @ $75/hr)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CMS issued 1,200+ policy updates in 2023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Human error rate ~15% on complex multi-code policies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Delays cascade into claims backlogs and audit gaps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669280" cy="448056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>
                <a:solidFill>
                  <a:srgbClr val="1F497D"/>
                </a:solidFill>
              </a:rPr>
              <a:t>The Scale of the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2120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800" b="1">
                <a:solidFill>
                  <a:srgbClr val="007B83"/>
                </a:solidFill>
              </a:rPr>
              <a:t>1,200+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8483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1A1A2E"/>
                </a:solidFill>
              </a:rPr>
              <a:t>CMS policy updates per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52120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800" b="1">
                <a:solidFill>
                  <a:srgbClr val="007B83"/>
                </a:solidFill>
              </a:rPr>
              <a:t>$67M+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6499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1A1A2E"/>
                </a:solidFill>
              </a:rPr>
              <a:t>Estimated annual payer burden</a:t>
            </a:r>
            <a:br/>
            <a:r>
              <a:t>(industry-wide)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480560"/>
            <a:ext cx="52120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5262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800" b="1">
                <a:solidFill>
                  <a:srgbClr val="007B83"/>
                </a:solidFill>
              </a:rPr>
              <a:t>45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64515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1A1A2E"/>
                </a:solidFill>
              </a:rPr>
              <a:t>Manual extraction per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The Solution: PolicyForge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C5D8F0"/>
                </a:solidFill>
              </a:rPr>
              <a:t>6-node LangGraph multi-agent pipeline from policy PDF to actionable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>
                <a:solidFill>
                  <a:srgbClr val="C5D8F0"/>
                </a:solidFill>
              </a:rPr>
              <a:t>PolicyForge  |  Cotiviti Intern Assessment  | 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1600200" cy="9601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5179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Retriever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8653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Hybrid RAG</a:t>
            </a:r>
            <a:br/>
            <a:r>
              <a:t>BM25 + FAISS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4" y="17373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1F497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2" y="1463040"/>
            <a:ext cx="1600200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15179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Extractor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18653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LLM + Pydantic</a:t>
            </a:r>
            <a:br/>
            <a:r>
              <a:t>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17373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1F497D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8184" y="1463040"/>
            <a:ext cx="1600200" cy="960120"/>
          </a:xfrm>
          <a:prstGeom prst="rect">
            <a:avLst/>
          </a:prstGeom>
          <a:solidFill>
            <a:srgbClr val="5B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15179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Critic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18653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Validation</a:t>
            </a:r>
            <a:br/>
            <a:r>
              <a:t>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17373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1F497D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2976" y="1463040"/>
            <a:ext cx="1600200" cy="9601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15179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Compiler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2976" y="18653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Policy →</a:t>
            </a:r>
            <a:br/>
            <a:r>
              <a:t>Executable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7373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1F497D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7768" y="1463040"/>
            <a:ext cx="1600200" cy="960120"/>
          </a:xfrm>
          <a:prstGeom prst="rect">
            <a:avLst/>
          </a:prstGeom>
          <a:solidFill>
            <a:srgbClr val="B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7768" y="15179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Adjudicator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18653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Statistical</a:t>
            </a:r>
            <a:br/>
            <a:r>
              <a:t>Outlier 2σ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17373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1F497D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463040"/>
            <a:ext cx="1600200" cy="960120"/>
          </a:xfrm>
          <a:prstGeom prst="rect">
            <a:avLst/>
          </a:prstGeom>
          <a:solidFill>
            <a:srgbClr val="2E7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15179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Explainer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18653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</a:rPr>
              <a:t>Plain-English</a:t>
            </a:r>
            <a:br/>
            <a:r>
              <a:t>Audit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606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1F497D"/>
                </a:solidFill>
              </a:rPr>
              <a:t>Key Technologies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971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🤖  Mistral-large-latest  (structured JSON output, temperature=0)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🔍  sentence-transformers + FAISS  (semantic retrieval)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📐  LangGraph  (stateful 6-node DAG with conditional critic loop)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 🗃️  DuckDB  (21,521 provider records, Part B utilization)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394960"/>
            <a:ext cx="12188952" cy="9601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5778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>
                <a:solidFill>
                  <a:srgbClr val="1F497D"/>
                </a:solidFill>
              </a:rPr>
              <a:t>Validated on 15 real CMS policies  ·  98.2% mean F1  ·  96.4% weighted F1  ·  15× cost reduction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Results: Evaluation on 15 Real Medicare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C5D8F0"/>
                </a:solidFill>
              </a:rPr>
              <a:t>Manual gold standards created by reading each policy text — no fabricated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>
                <a:solidFill>
                  <a:srgbClr val="C5D8F0"/>
                </a:solidFill>
              </a:rPr>
              <a:t>PolicyForge  |  Cotiviti Intern Assessment  | 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40280" cy="1188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000" b="1">
                <a:solidFill>
                  <a:srgbClr val="007B83"/>
                </a:solidFill>
              </a:rPr>
              <a:t>98.2%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556572"/>
                </a:solidFill>
              </a:rPr>
              <a:t>Mean F1</a:t>
            </a:r>
            <a:br/>
            <a:r>
              <a:t>(all 15 policies)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417320"/>
            <a:ext cx="2240280" cy="1188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463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000" b="1">
                <a:solidFill>
                  <a:srgbClr val="1F497D"/>
                </a:solidFill>
              </a:rPr>
              <a:t>96.4%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556572"/>
                </a:solidFill>
              </a:rPr>
              <a:t>Weighted F1</a:t>
            </a:r>
            <a:br/>
            <a:r>
              <a:t>(by clinical severity)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417320"/>
            <a:ext cx="2240280" cy="1188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000" b="1">
                <a:solidFill>
                  <a:srgbClr val="2E752F"/>
                </a:solidFill>
              </a:rPr>
              <a:t>14/15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556572"/>
                </a:solidFill>
              </a:rPr>
              <a:t>Policies F1 ≥ 0.9</a:t>
            </a:r>
            <a:br/>
            <a:r>
              <a:t>(excellent)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417320"/>
            <a:ext cx="2240280" cy="1188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463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000" b="1">
                <a:solidFill>
                  <a:srgbClr val="006D77"/>
                </a:solidFill>
              </a:rPr>
              <a:t>15×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556572"/>
                </a:solidFill>
              </a:rPr>
              <a:t>Cost Reduction</a:t>
            </a:r>
            <a:br/>
            <a:r>
              <a:t>$56 → $3.75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17320"/>
            <a:ext cx="2240280" cy="1188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4630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000" b="1">
                <a:solidFill>
                  <a:srgbClr val="BF8700"/>
                </a:solidFill>
              </a:rPr>
              <a:t>1.8%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556572"/>
                </a:solidFill>
              </a:rPr>
              <a:t>Provider Flag Rate</a:t>
            </a:r>
            <a:br/>
            <a:r>
              <a:t>(2σ outliers)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>
                <a:solidFill>
                  <a:srgbClr val="1F497D"/>
                </a:solidFill>
              </a:rPr>
              <a:t>Performance by Clinical Severity 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91840"/>
            <a:ext cx="3474720" cy="25603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>
                <a:solidFill>
                  <a:srgbClr val="C02B2B"/>
                </a:solidFill>
              </a:rPr>
              <a:t>TIER 1  —  Critical  (Cancer Screening)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862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400" b="1">
                <a:solidFill>
                  <a:srgbClr val="C02B2B"/>
                </a:solidFill>
              </a:rPr>
              <a:t>93.3%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556572"/>
                </a:solidFill>
              </a:rPr>
              <a:t>Mean 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100" b="0">
                <a:solidFill>
                  <a:srgbClr val="1A1A2E"/>
                </a:solidFill>
              </a:rPr>
              <a:t>🔴 Human review 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3291840"/>
            <a:ext cx="3474720" cy="25603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>
                <a:solidFill>
                  <a:srgbClr val="BF8700"/>
                </a:solidFill>
              </a:rPr>
              <a:t>TIER 2  —  Important  (CVD / Metabolic)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8862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400" b="1">
                <a:solidFill>
                  <a:srgbClr val="BF8700"/>
                </a:solidFill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526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556572"/>
                </a:solidFill>
              </a:rPr>
              <a:t>Mean F1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100" b="0">
                <a:solidFill>
                  <a:srgbClr val="1A1A2E"/>
                </a:solidFill>
              </a:rPr>
              <a:t>🟡 Safe for hybrid automation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291840"/>
            <a:ext cx="3474720" cy="25603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>
                <a:solidFill>
                  <a:srgbClr val="2E752F"/>
                </a:solidFill>
              </a:rPr>
              <a:t>TIER 3  —  Routine  (Behavioral Health)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8862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400" b="1">
                <a:solidFill>
                  <a:srgbClr val="2E752F"/>
                </a:solidFill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526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00" b="0">
                <a:solidFill>
                  <a:srgbClr val="556572"/>
                </a:solidFill>
              </a:rPr>
              <a:t>Mean F1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100" b="0">
                <a:solidFill>
                  <a:srgbClr val="1A1A2E"/>
                </a:solidFill>
              </a:rPr>
              <a:t>🟢 Safe for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Clinical Safety: 98% ≠ Safe for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C5D8F0"/>
                </a:solidFill>
              </a:rPr>
              <a:t>Mean F1 hides critical failures — weighted analysis reveals patient-harm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>
                <a:solidFill>
                  <a:srgbClr val="C5D8F0"/>
                </a:solidFill>
              </a:rPr>
              <a:t>PolicyForge  |  Cotiviti Intern Assessment  | 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212080" cy="4434840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>
                <a:solidFill>
                  <a:srgbClr val="C02B2B"/>
                </a:solidFill>
              </a:rPr>
              <a:t>⚠  Critical Failure: NCD 210.3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1A1A2E"/>
                </a:solidFill>
              </a:rPr>
              <a:t>Colorectal Cancer Screening at 80% F1</a:t>
            </a:r>
            <a:br/>
            <a:r>
              <a:t>→ 2 of 11 HCPCS codes missed</a:t>
            </a:r>
            <a:br/>
            <a:r>
              <a:t>→ Colonoscopy (G0120) &amp; Cologuard (G0464)</a:t>
            </a:r>
            <a:br/>
            <a:r>
              <a:t>   not extracted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C02B2B"/>
                </a:solidFill>
              </a:rPr>
              <a:t>Patient Harm Pathway: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Incorrect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→ wrong coverage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→ claim denied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C02B2B"/>
                </a:solidFill>
              </a:rPr>
              <a:t>→ patient skips colonoscopy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C02B2B"/>
                </a:solidFill>
              </a:rPr>
              <a:t>→ late-stage cancer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C02B2B"/>
                </a:solidFill>
              </a:rPr>
              <a:t>→ preventable death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417320"/>
            <a:ext cx="6035040" cy="443484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>
                <a:solidFill>
                  <a:srgbClr val="1F497D"/>
                </a:solidFill>
              </a:rPr>
              <a:t>Error Taxonomy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920240"/>
            <a:ext cx="365760" cy="1005840"/>
          </a:xfrm>
          <a:prstGeom prst="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C02B2B"/>
                </a:solidFill>
              </a:rPr>
              <a:t>CRITICAL — Missed cancer-screening 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86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i="1"/>
              <a:t/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A1A2E"/>
                </a:solidFill>
              </a:rPr>
              <a:t>NCD 210.3: G0120, G0464 not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78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>
                <a:solidFill>
                  <a:srgbClr val="556572"/>
                </a:solidFill>
              </a:rPr>
              <a:t>Impact: incorrect claim denial, patient harm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200400"/>
            <a:ext cx="365760" cy="1005840"/>
          </a:xfrm>
          <a:prstGeom prst="rect">
            <a:avLst/>
          </a:prstGeom>
          <a:solidFill>
            <a:srgbClr val="B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246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BF8700"/>
                </a:solidFill>
              </a:rPr>
              <a:t>MODERATE — Obsolete code extracted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566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i="1"/>
              <a:t/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A1A2E"/>
                </a:solidFill>
              </a:rPr>
              <a:t>AAA: G0389 (retired 2017) returned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858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>
                <a:solidFill>
                  <a:srgbClr val="556572"/>
                </a:solidFill>
              </a:rPr>
              <a:t>Impact: billing delay, manual correction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4480560"/>
            <a:ext cx="365760" cy="1005840"/>
          </a:xfrm>
          <a:prstGeom prst="rect">
            <a:avLst/>
          </a:prstGeom>
          <a:solidFill>
            <a:srgbClr val="2E7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4754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26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2E752F"/>
                </a:solidFill>
              </a:rPr>
              <a:t>MINOR — Frequency off by 1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i="1"/>
              <a:t/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A1A2E"/>
                </a:solidFill>
              </a:rPr>
              <a:t>Mammography: 11 vs 12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1389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>
                <a:solidFill>
                  <a:srgbClr val="556572"/>
                </a:solidFill>
              </a:rPr>
              <a:t>Impact: timing adjustment, no patient harm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Strategic Recommendation for 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C5D8F0"/>
                </a:solidFill>
              </a:rPr>
              <a:t>Three-phase deployment roadmap balancing speed-to-value with patient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>
                <a:solidFill>
                  <a:srgbClr val="C5D8F0"/>
                </a:solidFill>
              </a:rPr>
              <a:t>PolicyForge  |  Cotiviti Intern Assessment  | 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794760" cy="502920"/>
          </a:xfrm>
          <a:prstGeom prst="rect">
            <a:avLst/>
          </a:prstGeom>
          <a:solidFill>
            <a:srgbClr val="2E7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A — DEPLOY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3794760" cy="39319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96596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2E752F"/>
                </a:solidFill>
              </a:rPr>
              <a:t>Audit Triage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3774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i="1"/>
              <a:t/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556572"/>
                </a:solidFill>
              </a:rPr>
              <a:t>Risk: LOW  |  Timeline: Immediate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7889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Flag top 1.8% of providers (2σ outlier)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2461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Human auditors review ALL flagged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7033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No automated denials — human in the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41605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14× ROI · $52K savings per 1,000 policies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46177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Regulatory exposure: minimal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417320"/>
            <a:ext cx="3794760" cy="502920"/>
          </a:xfrm>
          <a:prstGeom prst="rect">
            <a:avLst/>
          </a:prstGeom>
          <a:solidFill>
            <a:srgbClr val="B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4447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B — 6-MONTH ROADMAP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920240"/>
            <a:ext cx="3794760" cy="39319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96596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BF8700"/>
                </a:solidFill>
              </a:rPr>
              <a:t>Hybrid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3774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i="1"/>
              <a:t/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556572"/>
                </a:solidFill>
              </a:rPr>
              <a:t>Risk: MEDIUM  |  Prerequisite: NCCI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7889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Tier 2/3 policies auto-approved (100% F1)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2461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Tier 1 cancer policies: mandatory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7033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Confidence routing: auto / review / 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1605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Expected ROI: 20× after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6177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Requires audit trail + medical coder cert.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1417320"/>
            <a:ext cx="3794760" cy="502920"/>
          </a:xfrm>
          <a:prstGeom prst="rect">
            <a:avLst/>
          </a:prstGeom>
          <a:solidFill>
            <a:srgbClr val="C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14447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C — 18+ MONTHS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920240"/>
            <a:ext cx="3794760" cy="39319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7" y="196596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C02B2B"/>
                </a:solidFill>
              </a:rPr>
              <a:t>Full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7" y="23774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i="1"/>
              <a:t/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556572"/>
                </a:solidFill>
              </a:rPr>
              <a:t>Risk: HIGH  |  Not recommended yet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7" y="27889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Requires ≥99% weighted F1 (currently 96.4%)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7" y="32461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FDA 510(k) review for clinical decision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7" y="37033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HIPAA-compliant audit logging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7" y="41605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Continuous model monitoring + rollback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7" y="461772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0">
                <a:solidFill>
                  <a:srgbClr val="1A1A2E"/>
                </a:solidFill>
              </a:rPr>
              <a:t>▸  Do NOT deploy until Option B validated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897880"/>
            <a:ext cx="12188952" cy="65836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59436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</a:rPr>
              <a:t>96.4% Weighted F1 = Excellent for TRIAGE  ·  Not yet sufficient for AUTOMATION  ·  Option A today → Option B in 6 months → Reassess Option C at 99%+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POC Demo: Live 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>
                <a:solidFill>
                  <a:srgbClr val="C5D8F0"/>
                </a:solidFill>
              </a:rPr>
              <a:t>End-to-end pipeline running on real CMS policy texts — reproducible from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>
                <a:solidFill>
                  <a:srgbClr val="C5D8F0"/>
                </a:solidFill>
              </a:rPr>
              <a:t>PolicyForge  |  Cotiviti Intern Assessment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>
                <a:solidFill>
                  <a:srgbClr val="1F497D"/>
                </a:solidFill>
              </a:rPr>
              <a:t>What PolicyForge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411480" cy="5029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Ingest: Reads raw NCD/CFR policy text from CMS.gov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411480" cy="5029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877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Retrieve: BM25 + FAISS finds coverage-relevant sections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411480" cy="5029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735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Extract: Mistral LLM returns structured HCPCS + freq 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411480" cy="5029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593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Validate: Critic agent checks completeness, retries if empty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72000"/>
            <a:ext cx="411480" cy="5029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451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Adjudicate: Flags providers &gt;2σ utilization (1.8% flag rate)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57800"/>
            <a:ext cx="411480" cy="5029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303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309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1A1A2E"/>
                </a:solidFill>
              </a:rPr>
              <a:t>Explain: Plain-English audit memo for human reviewer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417320"/>
            <a:ext cx="5577840" cy="4937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481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>
                <a:solidFill>
                  <a:srgbClr val="007B83"/>
                </a:solidFill>
              </a:rPr>
              <a:t>Sample Extraction Output  (NCD 150.3 — Bone Mass)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892807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>
                <a:solidFill>
                  <a:srgbClr val="00FF88"/>
                </a:solidFill>
              </a:rPr>
              <a:t>{</a:t>
            </a:r>
            <a:br/>
            <a:r>
              <a:t>  "policy_id": "NCD_150.3",</a:t>
            </a:r>
            <a:br/>
            <a:r>
              <a:t>  "target_hcpcs_codes": [</a:t>
            </a:r>
            <a:br/>
            <a:r>
              <a:t>    "77080","77081","77085",</a:t>
            </a:r>
            <a:br/>
            <a:r>
              <a:t>    "77086","76977","77078","77079"</a:t>
            </a:r>
            <a:br/>
            <a:r>
              <a:t>  ],</a:t>
            </a:r>
            <a:br/>
            <a:r>
              <a:t>  "frequency_limit_months": 24,</a:t>
            </a:r>
            <a:br/>
            <a:r>
              <a:t>  "age_min": null,</a:t>
            </a:r>
            <a:br/>
            <a:r>
              <a:t>  "extraction_f1": 0.933,</a:t>
            </a:r>
            <a:br/>
            <a:r>
              <a:t>  "review_required": false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