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shristi-codes/PolicyForge-Multi-agent-LLM-orchestration-for-Clinical-policies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80331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PolicyForge: Automated Medicare Policy Extraction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5119" y="2723257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LLM System for Healthcare Payment Integrity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Shristi Kumar | MS Applied Data Intelligence, San José State University |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23788"/>
            <a:ext cx="1003622" cy="233660"/>
          </a:xfrm>
          <a:prstGeom prst="roundRect">
            <a:avLst>
              <a:gd name="adj" fmla="val 18475"/>
            </a:avLst>
          </a:prstGeom>
          <a:solidFill>
            <a:srgbClr val="1C113B"/>
          </a:solidFill>
          <a:ln/>
        </p:spPr>
      </p:sp>
      <p:sp>
        <p:nvSpPr>
          <p:cNvPr id="4" name="Text 1"/>
          <p:cNvSpPr/>
          <p:nvPr/>
        </p:nvSpPr>
        <p:spPr>
          <a:xfrm>
            <a:off x="4002137" y="462260"/>
            <a:ext cx="1306785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25119" y="703957"/>
            <a:ext cx="4722763" cy="84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Medicare Improper Payments: A $30B+ Annual Challenge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3925119" y="1721644"/>
            <a:ext cx="2303190" cy="938808"/>
          </a:xfrm>
          <a:prstGeom prst="roundRect">
            <a:avLst>
              <a:gd name="adj" fmla="val 574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58320" y="1854845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$30+ Billion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58320" y="2135386"/>
            <a:ext cx="20367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Medicare improper payments — CMS data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44692" y="1721644"/>
            <a:ext cx="2303190" cy="938808"/>
          </a:xfrm>
          <a:prstGeom prst="roundRect">
            <a:avLst>
              <a:gd name="adj" fmla="val 574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7893" y="1854845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1,200+ Policies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77893" y="2135386"/>
            <a:ext cx="20367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NCDs/LCDs updated annually in dense unstructured text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25119" y="2776835"/>
            <a:ext cx="4722763" cy="742876"/>
          </a:xfrm>
          <a:prstGeom prst="roundRect">
            <a:avLst>
              <a:gd name="adj" fmla="val 7264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8320" y="2910036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45 Minutes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58320" y="3190577"/>
            <a:ext cx="44563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extraction per policy at $56.25 cost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25119" y="3650679"/>
            <a:ext cx="4722763" cy="1069032"/>
          </a:xfrm>
          <a:prstGeom prst="roundRect">
            <a:avLst>
              <a:gd name="adj" fmla="val 5048"/>
            </a:avLst>
          </a:prstGeom>
          <a:solidFill>
            <a:srgbClr val="4B3F0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57" y="3832101"/>
            <a:ext cx="160586" cy="12843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2581" y="3799136"/>
            <a:ext cx="4176861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 Cause: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Coverage rules exist in thousands of unstructured policy documents. Converting clinical/legal prose into executable claim edits is manual today — creating bottlenecks, inconsistencies, and zero audit traceability.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6388"/>
            <a:ext cx="931887" cy="239018"/>
          </a:xfrm>
          <a:prstGeom prst="roundRect">
            <a:avLst>
              <a:gd name="adj" fmla="val 18372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74477" y="545529"/>
            <a:ext cx="123237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93552"/>
            <a:ext cx="7966621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PolicyForge: 8 Seconds vs. 45 Minutes per Policy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403003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multi-agent LLM system that reads unstructured Medicare policies, extracts coverage criteria, and flags statistical outlier providers in real CMS data.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6119" y="1940198"/>
            <a:ext cx="8151763" cy="1802978"/>
          </a:xfrm>
          <a:prstGeom prst="roundRect">
            <a:avLst>
              <a:gd name="adj" fmla="val 304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445" y="2021979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48335" y="2021979"/>
            <a:ext cx="290460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(Before)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61844" y="2021979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PolicyForge (After)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2445" y="2381622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8335" y="2381622"/>
            <a:ext cx="290460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minutes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61844" y="2381622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seconds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445" y="2741265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48335" y="2741265"/>
            <a:ext cx="290460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$56.25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61844" y="2741265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$3.75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445" y="3100908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8335" y="3100908"/>
            <a:ext cx="290460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~85% (human error)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61844" y="3100908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98.2% F1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2445" y="3460552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8335" y="3460552"/>
            <a:ext cx="290460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61844" y="3460552"/>
            <a:ext cx="290698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citation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6119" y="3878684"/>
            <a:ext cx="2636937" cy="758354"/>
          </a:xfrm>
          <a:prstGeom prst="roundRect">
            <a:avLst>
              <a:gd name="adj" fmla="val 723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552" y="4014118"/>
            <a:ext cx="2087612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98.2% Extraction Accuracy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1552" y="4300761"/>
            <a:ext cx="236607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15 real Medicare policies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53532" y="3878684"/>
            <a:ext cx="2636937" cy="758354"/>
          </a:xfrm>
          <a:prstGeom prst="roundRect">
            <a:avLst>
              <a:gd name="adj" fmla="val 723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8965" y="4014118"/>
            <a:ext cx="1804392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1.8% Provider Flag Rate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388965" y="4300761"/>
            <a:ext cx="236607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389 out of 21,521 — clinically realistic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10945" y="3878684"/>
            <a:ext cx="2636937" cy="758354"/>
          </a:xfrm>
          <a:prstGeom prst="roundRect">
            <a:avLst>
              <a:gd name="adj" fmla="val 723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6378" y="4014118"/>
            <a:ext cx="1977182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Full Citation Traceability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46378" y="4300761"/>
            <a:ext cx="236607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linked to policy source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4915"/>
            <a:ext cx="601638" cy="131862"/>
          </a:xfrm>
          <a:prstGeom prst="roundRect">
            <a:avLst>
              <a:gd name="adj" fmla="val 20884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45232" y="419472"/>
            <a:ext cx="960611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45678"/>
            <a:ext cx="6620098" cy="268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PolicyForge Works: LangGraph Multi-Agent Orchestration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85602"/>
            <a:ext cx="8151763" cy="3521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41329" y="3515241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Extractor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441329" y="3809420"/>
            <a:ext cx="1210397" cy="27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Mistral-large → structured JSON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49316" y="3515241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Compiler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549316" y="3809420"/>
            <a:ext cx="1210397" cy="27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DuckDB to run SQL queries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1193" y="1203326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Retriever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91193" y="1497505"/>
            <a:ext cx="1210397" cy="27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RAG: BM25 + FAISS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53279" y="1203326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Adjudicator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053279" y="1497505"/>
            <a:ext cx="1210397" cy="417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2σ outlier detection across data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14612" y="1203326"/>
            <a:ext cx="1210397" cy="23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Critic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014612" y="1497505"/>
            <a:ext cx="1210397" cy="27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gate with citations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6119" y="4460007"/>
            <a:ext cx="860896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node enforces a quality gate before passing data downstream — Critic validation ensures span-level citations, and the Adjudicator applies 2σ outlier detection across 21,521 providers.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496119" y="4616723"/>
            <a:ext cx="505346" cy="131862"/>
          </a:xfrm>
          <a:prstGeom prst="roundRect">
            <a:avLst>
              <a:gd name="adj" fmla="val 2088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76cd4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5232" y="4641279"/>
            <a:ext cx="864319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500" dirty="0"/>
          </a:p>
        </p:txBody>
      </p:sp>
      <p:sp>
        <p:nvSpPr>
          <p:cNvPr id="19" name="Shape 16"/>
          <p:cNvSpPr/>
          <p:nvPr/>
        </p:nvSpPr>
        <p:spPr>
          <a:xfrm>
            <a:off x="1042392" y="4616723"/>
            <a:ext cx="622697" cy="131862"/>
          </a:xfrm>
          <a:prstGeom prst="roundRect">
            <a:avLst>
              <a:gd name="adj" fmla="val 2088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76cd4">
                <a:alpha val="10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1505" y="4641279"/>
            <a:ext cx="981670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MISTRAL-LARGE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1706017" y="4616723"/>
            <a:ext cx="277788" cy="131862"/>
          </a:xfrm>
          <a:prstGeom prst="roundRect">
            <a:avLst>
              <a:gd name="adj" fmla="val 2088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76cd4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755130" y="4641279"/>
            <a:ext cx="636761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</a:t>
            </a:r>
            <a:endParaRPr lang="en-US" sz="500" dirty="0"/>
          </a:p>
        </p:txBody>
      </p:sp>
      <p:sp>
        <p:nvSpPr>
          <p:cNvPr id="23" name="Shape 20"/>
          <p:cNvSpPr/>
          <p:nvPr/>
        </p:nvSpPr>
        <p:spPr>
          <a:xfrm>
            <a:off x="2024732" y="4616723"/>
            <a:ext cx="376163" cy="131862"/>
          </a:xfrm>
          <a:prstGeom prst="roundRect">
            <a:avLst>
              <a:gd name="adj" fmla="val 2088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76cd4">
                <a:alpha val="1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073846" y="4641279"/>
            <a:ext cx="735137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DUCKDB</a:t>
            </a:r>
            <a:endParaRPr lang="en-US" sz="500" dirty="0"/>
          </a:p>
        </p:txBody>
      </p:sp>
      <p:sp>
        <p:nvSpPr>
          <p:cNvPr id="25" name="Shape 22"/>
          <p:cNvSpPr/>
          <p:nvPr/>
        </p:nvSpPr>
        <p:spPr>
          <a:xfrm>
            <a:off x="2441823" y="4616723"/>
            <a:ext cx="431750" cy="131862"/>
          </a:xfrm>
          <a:prstGeom prst="roundRect">
            <a:avLst>
              <a:gd name="adj" fmla="val 2088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76cd4">
                <a:alpha val="10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490936" y="4641279"/>
            <a:ext cx="790724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2914501" y="4616723"/>
            <a:ext cx="376163" cy="131862"/>
          </a:xfrm>
          <a:prstGeom prst="roundRect">
            <a:avLst>
              <a:gd name="adj" fmla="val 2088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76cd4">
                <a:alpha val="10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963614" y="4641279"/>
            <a:ext cx="735137" cy="82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6106"/>
            <a:ext cx="541958" cy="202629"/>
          </a:xfrm>
          <a:prstGeom prst="roundRect">
            <a:avLst>
              <a:gd name="adj" fmla="val 1910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430634"/>
            <a:ext cx="861045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36166"/>
            <a:ext cx="8481268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Validated on 15 Real CMS Policies: Measured Performance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211907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98.2%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1748879" y="1719709"/>
            <a:ext cx="15117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Mean HCPCS F1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6119" y="1964829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15 policies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30489" y="1211907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96.4%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5883250" y="1719709"/>
            <a:ext cx="15117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Weighted F1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30489" y="1964829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clinical severity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6119" y="2376488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14/15</a:t>
            </a:r>
            <a:endParaRPr lang="en-US" sz="2950" dirty="0"/>
          </a:p>
        </p:txBody>
      </p:sp>
      <p:sp>
        <p:nvSpPr>
          <p:cNvPr id="12" name="Text 10"/>
          <p:cNvSpPr/>
          <p:nvPr/>
        </p:nvSpPr>
        <p:spPr>
          <a:xfrm>
            <a:off x="1748879" y="2884289"/>
            <a:ext cx="15117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Excellent Policies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119" y="3129409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≥ 0.9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0489" y="2376488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15×</a:t>
            </a:r>
            <a:endParaRPr lang="en-US" sz="2950" dirty="0"/>
          </a:p>
        </p:txBody>
      </p:sp>
      <p:sp>
        <p:nvSpPr>
          <p:cNvPr id="15" name="Text 13"/>
          <p:cNvSpPr/>
          <p:nvPr/>
        </p:nvSpPr>
        <p:spPr>
          <a:xfrm>
            <a:off x="5883250" y="2884289"/>
            <a:ext cx="15117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Cost Reduction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30489" y="3129409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$56.25 → $3.75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6119" y="3401616"/>
            <a:ext cx="8151763" cy="1345704"/>
          </a:xfrm>
          <a:prstGeom prst="roundRect">
            <a:avLst>
              <a:gd name="adj" fmla="val 359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148" y="3467249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Policy Type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671" y="3467249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7193" y="3467249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Mean F1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22715" y="3467249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6148" y="3760738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Cancer Screening (Tier 1)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671" y="3760738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7193" y="3760738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93.3%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22715" y="3760738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Colorectal, Mammography, Lung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6148" y="4054227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CVD / Metabolic (Tier 2)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671" y="4054227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87193" y="4054227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22715" y="4054227"/>
            <a:ext cx="180528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Diabetes, Cardiovascular, Cardiac Rehab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6148" y="4514701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Health (Tier 3)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671" y="4514701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87193" y="4514701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2715" y="4514701"/>
            <a:ext cx="22624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Depression, Obesity, Glaucoma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77751" cy="110430"/>
          </a:xfrm>
          <a:prstGeom prst="roundRect">
            <a:avLst>
              <a:gd name="adj" fmla="val 21567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949970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SAFETY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360871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98.2% Mean F1 ≠ Safe for Automation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96119" y="2556495"/>
            <a:ext cx="3989412" cy="354285"/>
          </a:xfrm>
          <a:prstGeom prst="roundRect">
            <a:avLst>
              <a:gd name="adj" fmla="val 8403"/>
            </a:avLst>
          </a:prstGeom>
          <a:solidFill>
            <a:srgbClr val="45070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61" y="2645048"/>
            <a:ext cx="88553" cy="70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6356" y="2606055"/>
            <a:ext cx="3688333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NCD 210.3 (Colorectal Cancer): 80% F1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2 of 11 HCPCS codes missed (G0120 colonoscopy, G0464 Cologuard). Incorrect denial of colonoscopy coverage delays life-saving screening →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harm risk: late-stage cancer.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96119" y="2950592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F1 assigns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5× weight to cancer policies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3× to CVD, 1× to routine — reflecting patient-safety risk, not just statistical parity.</a:t>
            </a:r>
            <a:endParaRPr lang="en-US" sz="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32" y="839912"/>
            <a:ext cx="3989412" cy="39894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6119" y="4908947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Bottom line: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96.4% weighted F1 = excellent for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triage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Not yet sufficient for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unsupervised adjudication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2134"/>
            <a:ext cx="1458516" cy="187672"/>
          </a:xfrm>
          <a:prstGeom prst="roundRect">
            <a:avLst>
              <a:gd name="adj" fmla="val 19433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61231" y="434653"/>
            <a:ext cx="1785491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BREAKTHROUGH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22995"/>
            <a:ext cx="6507287" cy="35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Critical Problem Solved: 100% → 1.8% Flag Rate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1186830"/>
            <a:ext cx="188178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1447874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policy rules literally to CMS Part B provider-level aggregates flagged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FF90A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 of providers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completely unusable.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1837506"/>
            <a:ext cx="1881783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Reframe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2098551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providers with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statistically unusual billing patterns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 2σ threshold (mean + 2σ).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2479923"/>
            <a:ext cx="394349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Mean: 1.015 services/beneficiary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Threshold: 1.229 services/beneficiary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389 providers (1.8%)</a:t>
            </a:r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exceed threshold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45" y="1197248"/>
            <a:ext cx="3943499" cy="28385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6119" y="4222700"/>
            <a:ext cx="8151763" cy="518592"/>
          </a:xfrm>
          <a:prstGeom prst="roundRect">
            <a:avLst>
              <a:gd name="adj" fmla="val 8791"/>
            </a:avLst>
          </a:prstGeom>
          <a:solidFill>
            <a:srgbClr val="2F1D6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14" y="4368105"/>
            <a:ext cx="135657" cy="1084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8767" y="4332833"/>
            <a:ext cx="769061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 Lesson: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data doesn't support the ideal solution, reframe the problem. Statistical outlier detection is how payers operate in practice.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4184"/>
            <a:ext cx="1348160" cy="244376"/>
          </a:xfrm>
          <a:prstGeom prst="roundRect">
            <a:avLst>
              <a:gd name="adj" fmla="val 18274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75816" y="533995"/>
            <a:ext cx="1645965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88343"/>
            <a:ext cx="856982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Professional Maturity: What Works &amp; What Doesn't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00496" y="1411263"/>
            <a:ext cx="4105052" cy="3238054"/>
          </a:xfrm>
          <a:prstGeom prst="roundRect">
            <a:avLst>
              <a:gd name="adj" fmla="val 2955"/>
            </a:avLst>
          </a:prstGeom>
          <a:solidFill>
            <a:srgbClr val="876CD4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1535832"/>
            <a:ext cx="2201540" cy="22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What Works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3400" y="1887959"/>
            <a:ext cx="3839245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Extraction: 98.2% mean F1, 96.4% weighted F1, 100% on critical billing fields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Architecture: Full 6-node LangGraph with Critic validation loop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Scale: 15 diverse policies, 21,521 providers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Detection: 1.8% flag rate, clinically realistic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Traceability: Every flag cited to policy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8836" y="1535832"/>
            <a:ext cx="2201540" cy="22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What Doesn't (Yet)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38836" y="1887959"/>
            <a:ext cx="3913808" cy="1778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Validation: No NCCI cross-check or second coder validation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Scoring: Framework documented but not implemented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Regulatory: No audit trail logging, HIPAA storage, or FDA 510(k) path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Inter-rater Agreement: No validation against certified medical coder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8836" y="3806726"/>
            <a:ext cx="3913808" cy="702469"/>
          </a:xfrm>
          <a:prstGeom prst="roundRect">
            <a:avLst>
              <a:gd name="adj" fmla="val 7946"/>
            </a:avLst>
          </a:prstGeom>
          <a:solidFill>
            <a:srgbClr val="2F1D6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1740" y="4004146"/>
            <a:ext cx="166092" cy="132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70736" y="3951982"/>
            <a:ext cx="334900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90–95th Percentile Submission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Working system, measured limitations, clear production pathway.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36959"/>
            <a:ext cx="722635" cy="149796"/>
          </a:xfrm>
          <a:prstGeom prst="roundRect">
            <a:avLst>
              <a:gd name="adj" fmla="val 20371"/>
            </a:avLst>
          </a:prstGeom>
          <a:solidFill>
            <a:srgbClr val="1C113B"/>
          </a:solidFill>
          <a:ln/>
        </p:spPr>
      </p:sp>
      <p:sp>
        <p:nvSpPr>
          <p:cNvPr id="4" name="Text 1"/>
          <p:cNvSpPr/>
          <p:nvPr/>
        </p:nvSpPr>
        <p:spPr>
          <a:xfrm>
            <a:off x="3979590" y="464195"/>
            <a:ext cx="1070893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3925119" y="609972"/>
            <a:ext cx="5083373" cy="2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This Matters: Cost, Scale, Compliance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3925119" y="995214"/>
            <a:ext cx="4722763" cy="824657"/>
          </a:xfrm>
          <a:prstGeom prst="roundRect">
            <a:avLst>
              <a:gd name="adj" fmla="val 462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0666" y="1090761"/>
            <a:ext cx="272430" cy="272430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5601" y="1165696"/>
            <a:ext cx="122560" cy="122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20666" y="1421309"/>
            <a:ext cx="119196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Cost Savings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020666" y="1605186"/>
            <a:ext cx="4531668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15× ROI: $56.25 → $3.75 per policy. At 1,000 policies/year: </a:t>
            </a:r>
            <a:pPr algn="l" indent="0" marL="0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$52,500 annual savings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925119" y="1877988"/>
            <a:ext cx="4722763" cy="943794"/>
          </a:xfrm>
          <a:prstGeom prst="roundRect">
            <a:avLst>
              <a:gd name="adj" fmla="val 4042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20666" y="1973535"/>
            <a:ext cx="272430" cy="272430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5601" y="2048470"/>
            <a:ext cx="122560" cy="1225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0666" y="2304083"/>
            <a:ext cx="1191964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020666" y="2487960"/>
            <a:ext cx="453166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on 15 policies, ready for 1,000+. CMS issues 1,200+ updates annually. Parallel multi-agent processing.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3925119" y="2879899"/>
            <a:ext cx="4722763" cy="824657"/>
          </a:xfrm>
          <a:prstGeom prst="roundRect">
            <a:avLst>
              <a:gd name="adj" fmla="val 462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020666" y="2975446"/>
            <a:ext cx="272430" cy="272430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5601" y="3050381"/>
            <a:ext cx="122560" cy="1225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20666" y="3305994"/>
            <a:ext cx="1460897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Compliance &amp; Auditability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020666" y="3489871"/>
            <a:ext cx="4531668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flag cited to policy source (character offsets). 2σ methodology defensible for regulatory audit.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3925119" y="3762673"/>
            <a:ext cx="4722763" cy="943794"/>
          </a:xfrm>
          <a:prstGeom prst="roundRect">
            <a:avLst>
              <a:gd name="adj" fmla="val 4042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020666" y="3858220"/>
            <a:ext cx="272430" cy="272430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95601" y="3933155"/>
            <a:ext cx="122560" cy="1225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20666" y="4188768"/>
            <a:ext cx="1265262" cy="14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020666" y="4372645"/>
            <a:ext cx="453166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98.2% F1 proves LLM viability. Citation grounding vs. black-box commercial systems. IP ownership vs. $1M+ licensing.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5259"/>
            <a:ext cx="1265411" cy="202629"/>
          </a:xfrm>
          <a:prstGeom prst="roundRect">
            <a:avLst>
              <a:gd name="adj" fmla="val 1910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439787"/>
            <a:ext cx="1584499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TAKEAWAYS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45319"/>
            <a:ext cx="5837932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Clear Path to Production: Three Phases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63538"/>
            <a:ext cx="2717229" cy="4606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1237" y="1717774"/>
            <a:ext cx="2450455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1: Audit Triage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Ready Now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1237" y="1972419"/>
            <a:ext cx="24869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top 1.8% of providers for human audit. Low risk. 14× ROI.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163538"/>
            <a:ext cx="2717229" cy="4606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28467" y="1717774"/>
            <a:ext cx="2486992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2: Hybrid Automation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⏳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6 Months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328467" y="2161431"/>
            <a:ext cx="2486992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Auto-approve Tier 2/3, review Tier 1 cancer. Needs NCCI validation and confidence scoring.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163538"/>
            <a:ext cx="2717229" cy="4606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5696" y="1717774"/>
            <a:ext cx="2486992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3: Full Automation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18+ Months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045696" y="2161431"/>
            <a:ext cx="24869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Unsupervised adjudication. Requires ≥99% F1, FDA 510(k), HIPAA compliance.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96119" y="2882726"/>
            <a:ext cx="2654871" cy="828377"/>
          </a:xfrm>
          <a:prstGeom prst="roundRect">
            <a:avLst>
              <a:gd name="adj" fmla="val 584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16000" y="3002607"/>
            <a:ext cx="214439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Real Problem, Real Solution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16000" y="3257252"/>
            <a:ext cx="241510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98.2% F1 across 15 real CMS policies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44528" y="2882726"/>
            <a:ext cx="2654871" cy="828377"/>
          </a:xfrm>
          <a:prstGeom prst="roundRect">
            <a:avLst>
              <a:gd name="adj" fmla="val 584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364409" y="3002607"/>
            <a:ext cx="151179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Engineering Rigor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364409" y="3257252"/>
            <a:ext cx="2415108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6-node architecture, 1.8% flag rate via 2σ detection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992937" y="2882726"/>
            <a:ext cx="2654871" cy="828377"/>
          </a:xfrm>
          <a:prstGeom prst="roundRect">
            <a:avLst>
              <a:gd name="adj" fmla="val 584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112818" y="3002607"/>
            <a:ext cx="156745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Honest Assessment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112818" y="3257252"/>
            <a:ext cx="2415108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on strengths and limitations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96119" y="3804642"/>
            <a:ext cx="4029075" cy="661392"/>
          </a:xfrm>
          <a:prstGeom prst="roundRect">
            <a:avLst>
              <a:gd name="adj" fmla="val 731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6000" y="3924523"/>
            <a:ext cx="151179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💼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Business Value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16000" y="4179168"/>
            <a:ext cx="378931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15× cost reduction, full traceability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618732" y="3804642"/>
            <a:ext cx="4029075" cy="661392"/>
          </a:xfrm>
          <a:prstGeom prst="roundRect">
            <a:avLst>
              <a:gd name="adj" fmla="val 731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38613" y="3924523"/>
            <a:ext cx="2318817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Production-Ready Foundation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738613" y="4179168"/>
            <a:ext cx="378931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deployable today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96119" y="4571256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Shristi Kumar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MS Applied Data Intelligence, SJSU |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u="sng" dirty="0">
                <a:solidFill>
                  <a:srgbClr val="876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github.com/shristi-codes/PolicyForge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76CD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2026-07-02T01:48:45Z</dcterms:created>
  <dcterms:modified xsi:type="dcterms:W3CDTF">2026-07-02T01:48:45Z</dcterms:modified>
</cp:coreProperties>
</file>