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6400" b="1">
                <a:solidFill>
                  <a:srgbClr val="1E293B"/>
                </a:solidFill>
                <a:latin typeface="Arial"/>
              </a:rPr>
              <a:t>PolicyForge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400" b="1">
                <a:solidFill>
                  <a:srgbClr val="0EA5E9"/>
                </a:solidFill>
                <a:latin typeface="Arial"/>
              </a:rPr>
              <a:t>An Agentic Policy-to-Edit Engine for Medicare Payment 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5029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600" b="0">
                <a:solidFill>
                  <a:srgbClr val="64748B"/>
                </a:solidFill>
                <a:latin typeface="Arial"/>
              </a:rPr>
              <a:t>Shristi Kumar</a:t>
            </a:r>
            <a:br/>
            <a:r>
              <a:t>Cotiviti Intern Assessment</a:t>
            </a:r>
            <a:br/>
            <a:r>
              <a:t>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3600" b="1">
                <a:solidFill>
                  <a:srgbClr val="1E293B"/>
                </a:solidFill>
                <a:latin typeface="Arial"/>
              </a:rPr>
              <a:t>The $30B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0">
                <a:solidFill>
                  <a:srgbClr val="64748B"/>
                </a:solidFill>
                <a:latin typeface="Arial"/>
              </a:rPr>
              <a:t>PolicyForge | Shristi Kumar | Cotiviti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8000" b="1">
                <a:solidFill>
                  <a:srgbClr val="EF4444"/>
                </a:solidFill>
                <a:latin typeface="Arial"/>
              </a:rPr>
              <a:t>$30B+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0">
                <a:solidFill>
                  <a:srgbClr val="64748B"/>
                </a:solidFill>
                <a:latin typeface="Arial"/>
              </a:rPr>
              <a:t>Annual Medicare improper payments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01168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 b="1">
                <a:solidFill>
                  <a:srgbClr val="1E293B"/>
                </a:solidFill>
                <a:latin typeface="Arial"/>
              </a:rPr>
              <a:t>■  The Leakage: </a:t>
            </a:r>
            <a:r>
              <a:rPr sz="1800">
                <a:solidFill>
                  <a:srgbClr val="1E293B"/>
                </a:solidFill>
                <a:latin typeface="Arial"/>
              </a:rPr>
              <a:t>Rules reside in thousands of unstructured NCDs and LCDs.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1E293B"/>
                </a:solidFill>
                <a:latin typeface="Arial"/>
              </a:rPr>
              <a:t>■  The Bottleneck: </a:t>
            </a:r>
            <a:r>
              <a:rPr sz="1800">
                <a:solidFill>
                  <a:srgbClr val="1E293B"/>
                </a:solidFill>
                <a:latin typeface="Arial"/>
              </a:rPr>
              <a:t>Manual translation is fundamentally unscalable given CMS velocity.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1E293B"/>
                </a:solidFill>
                <a:latin typeface="Arial"/>
              </a:rPr>
              <a:t>■  The Drain: </a:t>
            </a:r>
            <a:r>
              <a:rPr sz="1800">
                <a:solidFill>
                  <a:srgbClr val="1E293B"/>
                </a:solidFill>
                <a:latin typeface="Arial"/>
              </a:rPr>
              <a:t>Manual analysis costs ~$56 and takes 45 minutes per policy.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3600" b="1">
                <a:solidFill>
                  <a:srgbClr val="1E293B"/>
                </a:solidFill>
                <a:latin typeface="Arial"/>
              </a:rPr>
              <a:t>The Solution: PolicyForge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0">
                <a:solidFill>
                  <a:srgbClr val="64748B"/>
                </a:solidFill>
                <a:latin typeface="Arial"/>
              </a:rPr>
              <a:t>PolicyForge | Shristi Kumar | Cotiviti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1">
                <a:solidFill>
                  <a:srgbClr val="0EA5E9"/>
                </a:solidFill>
                <a:latin typeface="Arial"/>
              </a:rPr>
              <a:t>Value Proposition: Transitioning from manual text reading to automated, data-driven audit triage.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600" b="0">
                <a:solidFill>
                  <a:srgbClr val="64748B"/>
                </a:solidFill>
                <a:latin typeface="Arial"/>
              </a:rPr>
              <a:t>An end-to-end, multi-agent engine that reads unstructured Medicare policies, compiles them into executable claim edits, and flags high-utilization provider anomalies in real-world CMS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743200"/>
            <a:ext cx="411480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926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2400" b="1">
                <a:solidFill>
                  <a:srgbClr val="1E293B"/>
                </a:solidFill>
                <a:latin typeface="Arial"/>
              </a:rP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47472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>
                <a:solidFill>
                  <a:srgbClr val="EF4444"/>
                </a:solidFill>
                <a:latin typeface="Arial"/>
              </a:rPr>
              <a:t>■   </a:t>
            </a:r>
            <a:r>
              <a:rPr sz="1600">
                <a:solidFill>
                  <a:srgbClr val="1E293B"/>
                </a:solidFill>
                <a:latin typeface="Arial"/>
              </a:rPr>
              <a:t>Dense PDF/Text Documents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EF4444"/>
                </a:solidFill>
                <a:latin typeface="Arial"/>
              </a:rPr>
              <a:t>■   </a:t>
            </a:r>
            <a:r>
              <a:rPr sz="1600">
                <a:solidFill>
                  <a:srgbClr val="1E293B"/>
                </a:solidFill>
                <a:latin typeface="Arial"/>
              </a:rPr>
              <a:t>Manual interpretation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EF4444"/>
                </a:solidFill>
                <a:latin typeface="Arial"/>
              </a:rPr>
              <a:t>■   </a:t>
            </a:r>
            <a:r>
              <a:rPr sz="1600">
                <a:solidFill>
                  <a:srgbClr val="1E293B"/>
                </a:solidFill>
                <a:latin typeface="Arial"/>
              </a:rPr>
              <a:t>Static spreadsheets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EF4444"/>
                </a:solidFill>
                <a:latin typeface="Arial"/>
              </a:rPr>
              <a:t>■   </a:t>
            </a:r>
            <a:r>
              <a:rPr sz="1600">
                <a:solidFill>
                  <a:srgbClr val="1E293B"/>
                </a:solidFill>
                <a:latin typeface="Arial"/>
              </a:rPr>
              <a:t>Slow &amp; inconsistent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743200"/>
            <a:ext cx="4114800" cy="3200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926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  <a:latin typeface="Arial"/>
              </a:rPr>
              <a:t>AFTER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47472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>
                <a:solidFill>
                  <a:srgbClr val="FFFFFF"/>
                </a:solidFill>
                <a:latin typeface="Arial"/>
              </a:rPr>
              <a:t>■   </a:t>
            </a:r>
            <a:r>
              <a:rPr sz="1600">
                <a:solidFill>
                  <a:srgbClr val="FFFFFF"/>
                </a:solidFill>
                <a:latin typeface="Arial"/>
              </a:rPr>
              <a:t>Structured JSON objects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FFFFFF"/>
                </a:solidFill>
                <a:latin typeface="Arial"/>
              </a:rPr>
              <a:t>■   </a:t>
            </a:r>
            <a:r>
              <a:rPr sz="1600">
                <a:solidFill>
                  <a:srgbClr val="FFFFFF"/>
                </a:solidFill>
                <a:latin typeface="Arial"/>
              </a:rPr>
              <a:t>Python Execution Logic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FFFFFF"/>
                </a:solidFill>
                <a:latin typeface="Arial"/>
              </a:rPr>
              <a:t>■   </a:t>
            </a:r>
            <a:r>
              <a:rPr sz="1600">
                <a:solidFill>
                  <a:srgbClr val="FFFFFF"/>
                </a:solidFill>
                <a:latin typeface="Arial"/>
              </a:rPr>
              <a:t>Targeted Provider Flags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FFFFFF"/>
                </a:solidFill>
                <a:latin typeface="Arial"/>
              </a:rPr>
              <a:t>■   </a:t>
            </a:r>
            <a:r>
              <a:rPr sz="1600">
                <a:solidFill>
                  <a:srgbClr val="FFFFFF"/>
                </a:solidFill>
                <a:latin typeface="Arial"/>
              </a:rPr>
              <a:t>Fast &amp; reproducible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3600" b="1">
                <a:solidFill>
                  <a:srgbClr val="1E293B"/>
                </a:solidFill>
                <a:latin typeface="Arial"/>
              </a:rPr>
              <a:t>System Architecture &amp;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0">
                <a:solidFill>
                  <a:srgbClr val="64748B"/>
                </a:solidFill>
                <a:latin typeface="Arial"/>
              </a:rPr>
              <a:t>PolicyForge | Shristi Kumar | Cotiviti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46304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Arial"/>
              </a:rPr>
              <a:t>Ingestion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200" b="0">
                <a:solidFill>
                  <a:srgbClr val="FFFFFF"/>
                </a:solidFill>
                <a:latin typeface="Arial"/>
              </a:rPr>
              <a:t>PDF/Text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4884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2000" b="1">
                <a:solidFill>
                  <a:srgbClr val="64748B"/>
                </a:solidFill>
                <a:latin typeface="Arial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057400" y="1828800"/>
            <a:ext cx="146304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20116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Arial"/>
              </a:rPr>
              <a:t>Retriever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377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200" b="0">
                <a:solidFill>
                  <a:srgbClr val="FFFFFF"/>
                </a:solidFill>
                <a:latin typeface="Arial"/>
              </a:rPr>
              <a:t>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14884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2000" b="1">
                <a:solidFill>
                  <a:srgbClr val="64748B"/>
                </a:solidFill>
                <a:latin typeface="Arial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1828800"/>
            <a:ext cx="1463040" cy="10972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0116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Arial"/>
              </a:rPr>
              <a:t>Extractor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377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200" b="0">
                <a:solidFill>
                  <a:srgbClr val="FFFFFF"/>
                </a:solidFill>
                <a:latin typeface="Arial"/>
              </a:rPr>
              <a:t>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14884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2000" b="1">
                <a:solidFill>
                  <a:srgbClr val="64748B"/>
                </a:solidFill>
                <a:latin typeface="Arial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57800" y="1828800"/>
            <a:ext cx="1463040" cy="10972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7800" y="20116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Arial"/>
              </a:rPr>
              <a:t>Critic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377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200" b="0">
                <a:solidFill>
                  <a:srgbClr val="FFFFFF"/>
                </a:solidFill>
                <a:latin typeface="Arial"/>
              </a:rPr>
              <a:t>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14884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2000" b="1">
                <a:solidFill>
                  <a:srgbClr val="64748B"/>
                </a:solidFill>
                <a:latin typeface="Arial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1828800"/>
            <a:ext cx="1463040" cy="10972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20116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Arial"/>
              </a:rPr>
              <a:t>Compiler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377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200" b="0">
                <a:solidFill>
                  <a:srgbClr val="FFFFFF"/>
                </a:solidFill>
                <a:latin typeface="Arial"/>
              </a:rPr>
              <a:t>Logic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14884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2000" b="1">
                <a:solidFill>
                  <a:srgbClr val="64748B"/>
                </a:solidFill>
                <a:latin typeface="Arial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58200" y="1828800"/>
            <a:ext cx="146304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200" y="20116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Arial"/>
              </a:rPr>
              <a:t>Adjudicator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2377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200" b="0">
                <a:solidFill>
                  <a:srgbClr val="FFFFFF"/>
                </a:solidFill>
                <a:latin typeface="Arial"/>
              </a:rPr>
              <a:t>2σ Outlier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214884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2000" b="1">
                <a:solidFill>
                  <a:srgbClr val="64748B"/>
                </a:solidFill>
                <a:latin typeface="Arial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0" y="1828800"/>
            <a:ext cx="146304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0" y="20116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Arial"/>
              </a:rPr>
              <a:t>Explainer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2377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200" b="0">
                <a:solidFill>
                  <a:srgbClr val="FFFFFF"/>
                </a:solidFill>
                <a:latin typeface="Arial"/>
              </a:rPr>
              <a:t>Memo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400" b="1">
                <a:solidFill>
                  <a:srgbClr val="1E293B"/>
                </a:solidFill>
                <a:latin typeface="Arial"/>
              </a:rPr>
              <a:t>Technology Stack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3891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 b="1">
                <a:solidFill>
                  <a:srgbClr val="0EA5E9"/>
                </a:solidFill>
                <a:latin typeface="Arial"/>
              </a:rPr>
              <a:t>■  Orchestration: </a:t>
            </a:r>
            <a:r>
              <a:rPr sz="1800">
                <a:solidFill>
                  <a:srgbClr val="1E293B"/>
                </a:solidFill>
                <a:latin typeface="Arial"/>
              </a:rPr>
              <a:t>LangGraph (Stateful workflow routing)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0EA5E9"/>
                </a:solidFill>
                <a:latin typeface="Arial"/>
              </a:rPr>
              <a:t>■  Storage &amp; Vector: </a:t>
            </a:r>
            <a:r>
              <a:rPr sz="1800">
                <a:solidFill>
                  <a:srgbClr val="1E293B"/>
                </a:solidFill>
                <a:latin typeface="Arial"/>
              </a:rPr>
              <a:t>FAISS, local files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0EA5E9"/>
                </a:solidFill>
                <a:latin typeface="Arial"/>
              </a:rPr>
              <a:t>■  Processing &amp; LLM: </a:t>
            </a:r>
            <a:r>
              <a:rPr sz="1800">
                <a:solidFill>
                  <a:srgbClr val="1E293B"/>
                </a:solidFill>
                <a:latin typeface="Arial"/>
              </a:rPr>
              <a:t>Mistral-large, DuckDB (Analytics), Pandas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3600" b="1">
                <a:solidFill>
                  <a:srgbClr val="1E293B"/>
                </a:solidFill>
                <a:latin typeface="Arial"/>
              </a:rPr>
              <a:t>LLM Orchestration &amp; The Grounding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0">
                <a:solidFill>
                  <a:srgbClr val="64748B"/>
                </a:solidFill>
                <a:latin typeface="Arial"/>
              </a:rPr>
              <a:t>PolicyForge | Shristi Kumar | Cotiviti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1">
                <a:solidFill>
                  <a:srgbClr val="EF4444"/>
                </a:solidFill>
                <a:latin typeface="Arial"/>
              </a:rPr>
              <a:t>Why a single prompt fails: Single-pass LLMs suffer from hallucinations and lack validation logic.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>
                <a:solidFill>
                  <a:srgbClr val="0EA5E9"/>
                </a:solidFill>
                <a:latin typeface="Arial"/>
              </a:rPr>
              <a:t>■  The Grounding Gate: </a:t>
            </a:r>
            <a:r>
              <a:rPr sz="1600">
                <a:solidFill>
                  <a:srgbClr val="1E293B"/>
                </a:solidFill>
                <a:latin typeface="Arial"/>
              </a:rPr>
              <a:t>The Critic node mandates verifiable character offsets and source spans before letting a rule compile.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0EA5E9"/>
                </a:solidFill>
                <a:latin typeface="Arial"/>
              </a:rPr>
              <a:t>■  State Transitions: </a:t>
            </a:r>
            <a:r>
              <a:rPr sz="1600">
                <a:solidFill>
                  <a:srgbClr val="1E293B"/>
                </a:solidFill>
                <a:latin typeface="Arial"/>
              </a:rPr>
              <a:t>Managed reliably via LangGraph's TypedDict lifecycle.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2103120"/>
            <a:ext cx="5029200" cy="36576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0" y="2377440"/>
            <a:ext cx="228600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Arial"/>
              </a:rPr>
              <a:t>Extractor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400" b="0">
                <a:solidFill>
                  <a:srgbClr val="64748B"/>
                </a:solidFill>
                <a:latin typeface="Arial"/>
              </a:rPr>
              <a:t>↓ proposed rule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3566160"/>
            <a:ext cx="2286000" cy="7315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37490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Arial"/>
              </a:rPr>
              <a:t>Critic Node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7432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200" b="0">
                <a:solidFill>
                  <a:srgbClr val="EF4444"/>
                </a:solidFill>
                <a:latin typeface="Arial"/>
              </a:rPr>
              <a:t>↑ [Fails Verification]</a:t>
            </a:r>
            <a:br/>
            <a:r>
              <a:t>Loop back for correction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3891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200" b="0">
                <a:solidFill>
                  <a:srgbClr val="10B981"/>
                </a:solidFill>
                <a:latin typeface="Arial"/>
              </a:rPr>
              <a:t>↓ [Passes]</a:t>
            </a:r>
            <a:br/>
            <a:r>
              <a:t>To Compiler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3600" b="1">
                <a:solidFill>
                  <a:srgbClr val="1E293B"/>
                </a:solidFill>
                <a:latin typeface="Arial"/>
              </a:rPr>
              <a:t>Data Engineering &amp; Analytics (DuckDB)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0">
                <a:solidFill>
                  <a:srgbClr val="64748B"/>
                </a:solidFill>
                <a:latin typeface="Arial"/>
              </a:rPr>
              <a:t>PolicyForge | Shristi Kumar | Cotiviti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 b="1">
                <a:solidFill>
                  <a:srgbClr val="0EA5E9"/>
                </a:solidFill>
                <a:latin typeface="Arial"/>
              </a:rPr>
              <a:t>■  Scale: </a:t>
            </a:r>
            <a:r>
              <a:rPr sz="1800">
                <a:solidFill>
                  <a:srgbClr val="1E293B"/>
                </a:solidFill>
                <a:latin typeface="Arial"/>
              </a:rPr>
              <a:t>Ingestion of CMS Part B dataset containing millions of provider summaries.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0EA5E9"/>
                </a:solidFill>
                <a:latin typeface="Arial"/>
              </a:rPr>
              <a:t>■  Speed: </a:t>
            </a:r>
            <a:r>
              <a:rPr sz="1800">
                <a:solidFill>
                  <a:srgbClr val="1E293B"/>
                </a:solidFill>
                <a:latin typeface="Arial"/>
              </a:rPr>
              <a:t>DuckDB dynamically filters targets (e.g., HCPCS 77080/77081) into a local parquet file in ~15 seconds.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0EA5E9"/>
                </a:solidFill>
                <a:latin typeface="Arial"/>
              </a:rPr>
              <a:t>■  Precision: </a:t>
            </a:r>
            <a:r>
              <a:rPr sz="1800">
                <a:solidFill>
                  <a:srgbClr val="1E293B"/>
                </a:solidFill>
                <a:latin typeface="Arial"/>
              </a:rPr>
              <a:t>Instead of naive pattern matching, it builds Pydantic schema boundaries for reliable data modeling.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1645920"/>
            <a:ext cx="45720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400" b="1">
                <a:solidFill>
                  <a:srgbClr val="0EA5E9"/>
                </a:solidFill>
                <a:latin typeface="Arial"/>
              </a:rPr>
              <a:t>Pydantic Execution Boundary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2377440"/>
            <a:ext cx="4023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400" b="0">
                <a:solidFill>
                  <a:srgbClr val="FFFFFF"/>
                </a:solidFill>
                <a:latin typeface="Arial"/>
              </a:rPr>
              <a:t>class PolicyCriteria(BaseModel):</a:t>
            </a:r>
            <a:br/>
            <a:r>
              <a:t>    policy_id: str</a:t>
            </a:r>
            <a:br/>
            <a:r>
              <a:t>    target_hcpcs_codes: List[str]</a:t>
            </a:r>
            <a:br/>
            <a:r>
              <a:t>    frequency_limit_months: int</a:t>
            </a:r>
            <a:br/>
            <a:r>
              <a:t>    review_required: bool</a:t>
            </a:r>
            <a:br/>
            <a:br/>
            <a:r>
              <a:t># DuckDB query generation</a:t>
            </a:r>
            <a:br/>
            <a:r>
              <a:t>SELECT provider_id, SUM(services) </a:t>
            </a:r>
            <a:br/>
            <a:r>
              <a:t>FROM cms_data</a:t>
            </a:r>
            <a:br/>
            <a:r>
              <a:t>WHERE hcpcs IN (target_hcpcs_codes)</a:t>
            </a:r>
            <a:br/>
            <a:r>
              <a:t>GROUP BY provider_id;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3600" b="1">
                <a:solidFill>
                  <a:srgbClr val="1E293B"/>
                </a:solidFill>
                <a:latin typeface="Arial"/>
              </a:rPr>
              <a:t>Operational Results &amp;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0">
                <a:solidFill>
                  <a:srgbClr val="64748B"/>
                </a:solidFill>
                <a:latin typeface="Arial"/>
              </a:rPr>
              <a:t>PolicyForge | Shristi Kumar | Cotiviti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3474720" cy="36576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6400" b="1">
                <a:solidFill>
                  <a:srgbClr val="0EA5E9"/>
                </a:solidFill>
                <a:latin typeface="Arial"/>
              </a:rPr>
              <a:t>98.2%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2000" b="1">
                <a:solidFill>
                  <a:srgbClr val="1E293B"/>
                </a:solidFill>
                <a:latin typeface="Arial"/>
              </a:rPr>
              <a:t>Mean HCPCS F1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400" b="0">
                <a:solidFill>
                  <a:srgbClr val="64748B"/>
                </a:solidFill>
                <a:latin typeface="Arial"/>
              </a:rPr>
              <a:t>Accuracy across 15 real test policies.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828800"/>
            <a:ext cx="3474720" cy="36576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22860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6400" b="1">
                <a:solidFill>
                  <a:srgbClr val="10B981"/>
                </a:solidFill>
                <a:latin typeface="Arial"/>
              </a:rPr>
              <a:t>8 Seconds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657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2000" b="1">
                <a:solidFill>
                  <a:srgbClr val="1E293B"/>
                </a:solidFill>
                <a:latin typeface="Arial"/>
              </a:rPr>
              <a:t>Processing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2062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400" b="0">
                <a:solidFill>
                  <a:srgbClr val="64748B"/>
                </a:solidFill>
                <a:latin typeface="Arial"/>
              </a:rPr>
              <a:t>Slashed from 45 mins. ($3.75 vs $56.25 = 15× cost reduction).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828800"/>
            <a:ext cx="3474720" cy="36576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2860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6400" b="1">
                <a:solidFill>
                  <a:srgbClr val="1E293B"/>
                </a:solidFill>
                <a:latin typeface="Arial"/>
              </a:rPr>
              <a:t>1.8%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657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2000" b="1">
                <a:solidFill>
                  <a:srgbClr val="1E293B"/>
                </a:solidFill>
                <a:latin typeface="Arial"/>
              </a:rPr>
              <a:t>Triage Yield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2062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400" b="0">
                <a:solidFill>
                  <a:srgbClr val="64748B"/>
                </a:solidFill>
                <a:latin typeface="Arial"/>
              </a:rPr>
              <a:t>Isolating the highest-risk 389 providers out of 21,521.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3600" b="1">
                <a:solidFill>
                  <a:srgbClr val="1E293B"/>
                </a:solidFill>
                <a:latin typeface="Arial"/>
              </a:rPr>
              <a:t>Managing Clinical Risk &amp; Human-in-the-Loop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0">
                <a:solidFill>
                  <a:srgbClr val="64748B"/>
                </a:solidFill>
                <a:latin typeface="Arial"/>
              </a:rPr>
              <a:t>PolicyForge | Shristi Kumar | Cotiviti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>
                <a:solidFill>
                  <a:srgbClr val="1E293B"/>
                </a:solidFill>
                <a:latin typeface="Arial"/>
              </a:rPr>
              <a:t>■  Honest Variance: </a:t>
            </a:r>
            <a:r>
              <a:rPr sz="1600">
                <a:solidFill>
                  <a:srgbClr val="1E293B"/>
                </a:solidFill>
                <a:latin typeface="Arial"/>
              </a:rPr>
              <a:t>Tier 2/3 policies hit 100% F1. Tier 1 (Cancer Screening) dipped to 93.3% (e.g. Colorectal missed 2 of 11 codes).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E293B"/>
                </a:solidFill>
                <a:latin typeface="Arial"/>
              </a:rPr>
              <a:t>■  The Danger: </a:t>
            </a:r>
            <a:r>
              <a:rPr sz="1600">
                <a:solidFill>
                  <a:srgbClr val="1E293B"/>
                </a:solidFill>
                <a:latin typeface="Arial"/>
              </a:rPr>
              <a:t>Missing codes can cause false medical claim denials, affecting patient care.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E293B"/>
                </a:solidFill>
                <a:latin typeface="Arial"/>
              </a:rPr>
              <a:t>■  The Mitigant: </a:t>
            </a:r>
            <a:r>
              <a:rPr sz="1600">
                <a:solidFill>
                  <a:srgbClr val="1E293B"/>
                </a:solidFill>
                <a:latin typeface="Arial"/>
              </a:rPr>
              <a:t>Deploy PolicyForge as an automated drafting assistant with mandatory human sign-off for high-stakes policies.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114800"/>
            <a:ext cx="2286000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2400" b="1">
                <a:solidFill>
                  <a:srgbClr val="10B981"/>
                </a:solidFill>
                <a:latin typeface="Arial"/>
              </a:rPr>
              <a:t>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60350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400" b="0">
                <a:solidFill>
                  <a:srgbClr val="1E293B"/>
                </a:solidFill>
                <a:latin typeface="Arial"/>
              </a:rPr>
              <a:t>Tier 3</a:t>
            </a:r>
            <a:br/>
            <a:r>
              <a:t>Routine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4114800"/>
            <a:ext cx="2286000" cy="1828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2400" b="1">
                <a:solidFill>
                  <a:srgbClr val="0EA5E9"/>
                </a:solidFill>
                <a:latin typeface="Arial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0350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400" b="0">
                <a:solidFill>
                  <a:srgbClr val="1E293B"/>
                </a:solidFill>
                <a:latin typeface="Arial"/>
              </a:rPr>
              <a:t>Tier 2</a:t>
            </a:r>
            <a:br/>
            <a:r>
              <a:t>Important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4572000"/>
            <a:ext cx="228600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2400" b="1">
                <a:solidFill>
                  <a:srgbClr val="EF4444"/>
                </a:solidFill>
                <a:latin typeface="Arial"/>
              </a:rPr>
              <a:t>93.3%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0350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400" b="0">
                <a:solidFill>
                  <a:srgbClr val="1E293B"/>
                </a:solidFill>
                <a:latin typeface="Arial"/>
              </a:rPr>
              <a:t>Tier 1</a:t>
            </a:r>
            <a:br/>
            <a:r>
              <a:t>Critical (Cancer)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3600" b="1">
                <a:solidFill>
                  <a:srgbClr val="1E293B"/>
                </a:solidFill>
                <a:latin typeface="Arial"/>
              </a:rPr>
              <a:t>Strategic Recommendations for Cotiviti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0">
                <a:solidFill>
                  <a:srgbClr val="64748B"/>
                </a:solidFill>
                <a:latin typeface="Arial"/>
              </a:rPr>
              <a:t>PolicyForge | Shristi Kumar | Cotiviti Assessment</a:t>
            </a:r>
          </a:p>
        </p:txBody>
      </p:sp>
      <p:sp>
        <p:nvSpPr>
          <p:cNvPr id="4" name="Chevron 3"/>
          <p:cNvSpPr/>
          <p:nvPr/>
        </p:nvSpPr>
        <p:spPr>
          <a:xfrm>
            <a:off x="457200" y="2286000"/>
            <a:ext cx="3657600" cy="2286000"/>
          </a:xfrm>
          <a:prstGeom prst="chevron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Arial"/>
              </a:rPr>
              <a:t>Phase 1: Deploy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400" b="0">
                <a:solidFill>
                  <a:srgbClr val="FFFFFF"/>
                </a:solidFill>
                <a:latin typeface="Arial"/>
              </a:rPr>
              <a:t>Adopt as an internal ingestion assistant to reduce the 45-minute baseline.</a:t>
            </a:r>
          </a:p>
        </p:txBody>
      </p:sp>
      <p:sp>
        <p:nvSpPr>
          <p:cNvPr id="7" name="Chevron 6"/>
          <p:cNvSpPr/>
          <p:nvPr/>
        </p:nvSpPr>
        <p:spPr>
          <a:xfrm>
            <a:off x="4206240" y="2286000"/>
            <a:ext cx="3657600" cy="2286000"/>
          </a:xfrm>
          <a:prstGeom prst="chevron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2560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Arial"/>
              </a:rPr>
              <a:t>Phase 2: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31089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400" b="0">
                <a:solidFill>
                  <a:srgbClr val="FFFFFF"/>
                </a:solidFill>
                <a:latin typeface="Arial"/>
              </a:rPr>
              <a:t>Implement cross-policy loops comparing edits against public NCCI datasets.</a:t>
            </a:r>
          </a:p>
        </p:txBody>
      </p:sp>
      <p:sp>
        <p:nvSpPr>
          <p:cNvPr id="10" name="Chevron 9"/>
          <p:cNvSpPr/>
          <p:nvPr/>
        </p:nvSpPr>
        <p:spPr>
          <a:xfrm>
            <a:off x="7955279" y="2286000"/>
            <a:ext cx="3657600" cy="2286000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9" y="2560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Arial"/>
              </a:rPr>
              <a:t>Phase 3: 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9" y="31089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400" b="0">
                <a:solidFill>
                  <a:srgbClr val="FFFFFF"/>
                </a:solidFill>
                <a:latin typeface="Arial"/>
              </a:rPr>
              <a:t>Pilot autonomous claim execution exclusively on low-risk policy tiers.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3600" b="1">
                <a:solidFill>
                  <a:srgbClr val="1E293B"/>
                </a:solidFill>
                <a:latin typeface="Arial"/>
              </a:rPr>
              <a:t>Conclusion &amp; Core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0">
                <a:solidFill>
                  <a:srgbClr val="64748B"/>
                </a:solidFill>
                <a:latin typeface="Arial"/>
              </a:rPr>
              <a:t>PolicyForge | Shristi Kumar | Cotiviti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000" b="1">
                <a:solidFill>
                  <a:srgbClr val="0EA5E9"/>
                </a:solidFill>
                <a:latin typeface="Arial"/>
              </a:rPr>
              <a:t>■  Fast: </a:t>
            </a:r>
            <a:r>
              <a:rPr sz="2000">
                <a:solidFill>
                  <a:srgbClr val="1E293B"/>
                </a:solidFill>
                <a:latin typeface="Arial"/>
              </a:rPr>
              <a:t>Reduces manual extraction time from 45 minutes to 8 seconds.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0EA5E9"/>
                </a:solidFill>
                <a:latin typeface="Arial"/>
              </a:rPr>
              <a:t>■  Mathematical: </a:t>
            </a:r>
            <a:r>
              <a:rPr sz="2000">
                <a:solidFill>
                  <a:srgbClr val="1E293B"/>
                </a:solidFill>
                <a:latin typeface="Arial"/>
              </a:rPr>
              <a:t>Replaces naive filtering with robust 2σ statistical outlier detection.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0EA5E9"/>
                </a:solidFill>
                <a:latin typeface="Arial"/>
              </a:rPr>
              <a:t>■  Auditable: </a:t>
            </a:r>
            <a:r>
              <a:rPr sz="2000">
                <a:solidFill>
                  <a:srgbClr val="1E293B"/>
                </a:solidFill>
                <a:latin typeface="Arial"/>
              </a:rPr>
              <a:t>Critic nodes and Pydantic schemas guarantee data integrity for compliance.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114800"/>
            <a:ext cx="941832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4114800"/>
            <a:ext cx="182880" cy="13716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438912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i="1"/>
              <a:t/>
            </a:r>
          </a:p>
          <a:p>
            <a:pPr algn="ctr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Arial"/>
              </a:rPr>
              <a:t>PolicyForge proves that multi-agent orchestration delivers enterprise-grade medical rule extraction that is fast, mathematically rigorous, and auditable.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